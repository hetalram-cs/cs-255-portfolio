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A5005B-50EC-54E2-8E38-08D581AF9220}" v="152" dt="2026-06-17T04:09:25.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21596F-2516-4815-8874-F343EB831492}" type="datetimeFigureOut">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5AA22B-AAB1-4CA4-B16F-568170446AD0}" type="slidenum">
              <a:t>‹#›</a:t>
            </a:fld>
            <a:endParaRPr lang="en-US"/>
          </a:p>
        </p:txBody>
      </p:sp>
    </p:spTree>
    <p:extLst>
      <p:ext uri="{BB962C8B-B14F-4D97-AF65-F5344CB8AC3E}">
        <p14:creationId xmlns:p14="http://schemas.microsoft.com/office/powerpoint/2010/main" val="2004407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My name is Hetal Ram, and today I will present the system design for DriverPass. DriverPass is an online system that helps customers prepare for their driving tests by providing practice tests, scheduling driving lessons, and managing appointments. In this presentation, I will explain the main features of the system, how it meets the client's needs, and the security and technical requirements that support the system.</a:t>
            </a:r>
          </a:p>
        </p:txBody>
      </p:sp>
      <p:sp>
        <p:nvSpPr>
          <p:cNvPr id="4" name="Slide Number Placeholder 3"/>
          <p:cNvSpPr>
            <a:spLocks noGrp="1"/>
          </p:cNvSpPr>
          <p:nvPr>
            <p:ph type="sldNum" sz="quarter" idx="5"/>
          </p:nvPr>
        </p:nvSpPr>
        <p:spPr/>
        <p:txBody>
          <a:bodyPr/>
          <a:lstStyle/>
          <a:p>
            <a:fld id="{965AA22B-AAB1-4CA4-B16F-568170446AD0}" type="slidenum">
              <a:t>1</a:t>
            </a:fld>
            <a:endParaRPr lang="en-US"/>
          </a:p>
        </p:txBody>
      </p:sp>
    </p:spTree>
    <p:extLst>
      <p:ext uri="{BB962C8B-B14F-4D97-AF65-F5344CB8AC3E}">
        <p14:creationId xmlns:p14="http://schemas.microsoft.com/office/powerpoint/2010/main" val="999272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DriverPass system is a web-based application that customers can access from computers, tablets, or mobile devices. The system allows customers to take practice tests, schedule driving lessons, and manage appointments. It also provides secure login and protects customer information. The system is designed to support multiple users while maintaining reliable performance.</a:t>
            </a:r>
          </a:p>
        </p:txBody>
      </p:sp>
      <p:sp>
        <p:nvSpPr>
          <p:cNvPr id="4" name="Slide Number Placeholder 3"/>
          <p:cNvSpPr>
            <a:spLocks noGrp="1"/>
          </p:cNvSpPr>
          <p:nvPr>
            <p:ph type="sldNum" sz="quarter" idx="5"/>
          </p:nvPr>
        </p:nvSpPr>
        <p:spPr/>
        <p:txBody>
          <a:bodyPr/>
          <a:lstStyle/>
          <a:p>
            <a:fld id="{965AA22B-AAB1-4CA4-B16F-568170446AD0}" type="slidenum">
              <a:rPr lang="en-US"/>
              <a:t>2</a:t>
            </a:fld>
            <a:endParaRPr lang="en-US"/>
          </a:p>
        </p:txBody>
      </p:sp>
    </p:spTree>
    <p:extLst>
      <p:ext uri="{BB962C8B-B14F-4D97-AF65-F5344CB8AC3E}">
        <p14:creationId xmlns:p14="http://schemas.microsoft.com/office/powerpoint/2010/main" val="2020310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Use Case Diagram provides a high-level overview of the DriverPass system. The main users are customers, secretaries, drivers, owners, IT officers, and the DMV system. Customers can create accounts, schedule driving lessons, take practice tests, and view their progress. Staff members can manage customer information, generate reports, and manage user accounts. This diagram helps explain how different users interact with the system and how the system meets the needs of DriverPass.</a:t>
            </a:r>
          </a:p>
        </p:txBody>
      </p:sp>
      <p:sp>
        <p:nvSpPr>
          <p:cNvPr id="4" name="Slide Number Placeholder 3"/>
          <p:cNvSpPr>
            <a:spLocks noGrp="1"/>
          </p:cNvSpPr>
          <p:nvPr>
            <p:ph type="sldNum" sz="quarter" idx="5"/>
          </p:nvPr>
        </p:nvSpPr>
        <p:spPr/>
        <p:txBody>
          <a:bodyPr/>
          <a:lstStyle/>
          <a:p>
            <a:fld id="{965AA22B-AAB1-4CA4-B16F-568170446AD0}" type="slidenum">
              <a:rPr lang="en-US"/>
              <a:t>3</a:t>
            </a:fld>
            <a:endParaRPr lang="en-US"/>
          </a:p>
        </p:txBody>
      </p:sp>
    </p:spTree>
    <p:extLst>
      <p:ext uri="{BB962C8B-B14F-4D97-AF65-F5344CB8AC3E}">
        <p14:creationId xmlns:p14="http://schemas.microsoft.com/office/powerpoint/2010/main" val="948764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Activity Diagram shows the process a customer follows to schedule a driving lesson. The customer logs in, selects a driving lesson, views available dates, and chooses a preferred time. The system checks whether the selected time is available. If the time is available, the appointment is confirmed and a confirmation message is sent. If the time is unavailable, the customer can choose another time. This process helps provide a smooth and organized scheduling experience for customers</a:t>
            </a:r>
          </a:p>
        </p:txBody>
      </p:sp>
      <p:sp>
        <p:nvSpPr>
          <p:cNvPr id="4" name="Slide Number Placeholder 3"/>
          <p:cNvSpPr>
            <a:spLocks noGrp="1"/>
          </p:cNvSpPr>
          <p:nvPr>
            <p:ph type="sldNum" sz="quarter" idx="5"/>
          </p:nvPr>
        </p:nvSpPr>
        <p:spPr/>
        <p:txBody>
          <a:bodyPr/>
          <a:lstStyle/>
          <a:p>
            <a:fld id="{965AA22B-AAB1-4CA4-B16F-568170446AD0}" type="slidenum">
              <a:rPr lang="en-US"/>
              <a:t>4</a:t>
            </a:fld>
            <a:endParaRPr lang="en-US"/>
          </a:p>
        </p:txBody>
      </p:sp>
    </p:spTree>
    <p:extLst>
      <p:ext uri="{BB962C8B-B14F-4D97-AF65-F5344CB8AC3E}">
        <p14:creationId xmlns:p14="http://schemas.microsoft.com/office/powerpoint/2010/main" val="2668623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is an important part of the DriverPass system. Users must log in with a secure username and password before accessing the system. Different users, such as customers, instructors, administrators, and IT staff, have different levels of access based on their roles. Customer information is protected through encrypted data transmission and account monitoring. The system also provides password reset functionality and can notify administrators after repeated failed login attempts to help protect user accounts.</a:t>
            </a:r>
          </a:p>
        </p:txBody>
      </p:sp>
      <p:sp>
        <p:nvSpPr>
          <p:cNvPr id="4" name="Slide Number Placeholder 3"/>
          <p:cNvSpPr>
            <a:spLocks noGrp="1"/>
          </p:cNvSpPr>
          <p:nvPr>
            <p:ph type="sldNum" sz="quarter" idx="5"/>
          </p:nvPr>
        </p:nvSpPr>
        <p:spPr/>
        <p:txBody>
          <a:bodyPr/>
          <a:lstStyle/>
          <a:p>
            <a:fld id="{965AA22B-AAB1-4CA4-B16F-568170446AD0}" type="slidenum">
              <a:rPr lang="en-US"/>
              <a:t>5</a:t>
            </a:fld>
            <a:endParaRPr lang="en-US"/>
          </a:p>
        </p:txBody>
      </p:sp>
    </p:spTree>
    <p:extLst>
      <p:ext uri="{BB962C8B-B14F-4D97-AF65-F5344CB8AC3E}">
        <p14:creationId xmlns:p14="http://schemas.microsoft.com/office/powerpoint/2010/main" val="3851107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DriverPass system has a few limitations. The system requires a stable internet connection because it is web-based and cloud-hosted. It also depends on DMV updates to keep practice tests and driving information current. Performance may vary depending on network speed and the number of users accessing the system at the same time. As DriverPass grows, additional resources may be needed to support more users and services. Despite these limitations, the system provides a secure, reliable, and scalable solution for DriverPass.</a:t>
            </a:r>
          </a:p>
        </p:txBody>
      </p:sp>
      <p:sp>
        <p:nvSpPr>
          <p:cNvPr id="4" name="Slide Number Placeholder 3"/>
          <p:cNvSpPr>
            <a:spLocks noGrp="1"/>
          </p:cNvSpPr>
          <p:nvPr>
            <p:ph type="sldNum" sz="quarter" idx="5"/>
          </p:nvPr>
        </p:nvSpPr>
        <p:spPr/>
        <p:txBody>
          <a:bodyPr/>
          <a:lstStyle/>
          <a:p>
            <a:fld id="{965AA22B-AAB1-4CA4-B16F-568170446AD0}" type="slidenum">
              <a:rPr lang="en-US"/>
              <a:t>6</a:t>
            </a:fld>
            <a:endParaRPr lang="en-US"/>
          </a:p>
        </p:txBody>
      </p:sp>
    </p:spTree>
    <p:extLst>
      <p:ext uri="{BB962C8B-B14F-4D97-AF65-F5344CB8AC3E}">
        <p14:creationId xmlns:p14="http://schemas.microsoft.com/office/powerpoint/2010/main" val="645437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dirty="0"/>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640534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2036790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783260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7243879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93775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59197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456101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dirty="0"/>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213573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758736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dirty="0"/>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388801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237177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dirty="0"/>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61818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138012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9801881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495511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401206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73172553"/>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Lst>
  <mc:AlternateContent xmlns:mc="http://schemas.openxmlformats.org/markup-compatibility/2006">
    <mc:Choice xmlns:p15="http://schemas.microsoft.com/office/powerpoint/2012/main" Requires="p15">
      <p:transition xmlns:p14="http://schemas.microsoft.com/office/powerpoint/2010/main" spd="slow" p14:dur="2250">
        <p15:prstTrans prst="drape"/>
      </p:transition>
    </mc:Choice>
    <mc:Fallback>
      <p:transition spd="slow">
        <p:fade/>
      </p:transition>
    </mc:Fallback>
  </mc:AlternateConten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266167"/>
          </a:xfrm>
        </p:spPr>
        <p:txBody>
          <a:bodyPr/>
          <a:lstStyle/>
          <a:p>
            <a:r>
              <a:rPr lang="en-US" dirty="0" err="1">
                <a:ea typeface="+mj-lt"/>
                <a:cs typeface="+mj-lt"/>
              </a:rPr>
              <a:t>DriverPass</a:t>
            </a:r>
            <a:r>
              <a:rPr lang="en-US" dirty="0">
                <a:ea typeface="+mj-lt"/>
                <a:cs typeface="+mj-lt"/>
              </a:rPr>
              <a:t> System Design</a:t>
            </a:r>
            <a:endParaRPr lang="en-US" dirty="0"/>
          </a:p>
        </p:txBody>
      </p:sp>
      <p:sp>
        <p:nvSpPr>
          <p:cNvPr id="3" name="Subtitle 2"/>
          <p:cNvSpPr>
            <a:spLocks noGrp="1"/>
          </p:cNvSpPr>
          <p:nvPr>
            <p:ph type="subTitle" idx="1"/>
          </p:nvPr>
        </p:nvSpPr>
        <p:spPr>
          <a:xfrm>
            <a:off x="1524000" y="2739397"/>
            <a:ext cx="9144000" cy="2518403"/>
          </a:xfrm>
        </p:spPr>
        <p:txBody>
          <a:bodyPr vert="horz" lIns="91440" tIns="45720" rIns="91440" bIns="45720" rtlCol="0" anchor="t">
            <a:normAutofit/>
          </a:bodyPr>
          <a:lstStyle/>
          <a:p>
            <a:r>
              <a:rPr lang="en-US">
                <a:ea typeface="+mn-lt"/>
                <a:cs typeface="+mn-lt"/>
              </a:rPr>
              <a:t>CS 255 – Systems Analysis and Design</a:t>
            </a:r>
            <a:endParaRPr lang="en-US"/>
          </a:p>
          <a:p>
            <a:r>
              <a:rPr lang="en-US">
                <a:ea typeface="+mn-lt"/>
                <a:cs typeface="+mn-lt"/>
              </a:rPr>
              <a:t>Project Two: Client Presentation</a:t>
            </a:r>
            <a:endParaRPr lang="en-US"/>
          </a:p>
          <a:p>
            <a:r>
              <a:rPr lang="en-US">
                <a:ea typeface="+mn-lt"/>
                <a:cs typeface="+mn-lt"/>
              </a:rPr>
              <a:t>Prepared by: Hetal Ram</a:t>
            </a:r>
            <a:endParaRPr lang="en-US"/>
          </a:p>
          <a:p>
            <a:r>
              <a:rPr lang="en-US">
                <a:ea typeface="+mn-lt"/>
                <a:cs typeface="+mn-lt"/>
              </a:rPr>
              <a:t>Southern New Hampshire University</a:t>
            </a:r>
            <a:endParaRPr lang="en-US"/>
          </a:p>
          <a:p>
            <a:endParaRPr lang="en-US" dirty="0"/>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E3BA-77C1-5FDE-6E00-404B04455B4E}"/>
              </a:ext>
            </a:extLst>
          </p:cNvPr>
          <p:cNvSpPr>
            <a:spLocks noGrp="1"/>
          </p:cNvSpPr>
          <p:nvPr>
            <p:ph type="title"/>
          </p:nvPr>
        </p:nvSpPr>
        <p:spPr/>
        <p:txBody>
          <a:bodyPr/>
          <a:lstStyle/>
          <a:p>
            <a:r>
              <a:rPr lang="en-US">
                <a:ea typeface="+mj-lt"/>
                <a:cs typeface="+mj-lt"/>
              </a:rPr>
              <a:t>System Requirements</a:t>
            </a:r>
            <a:endParaRPr lang="en-US"/>
          </a:p>
        </p:txBody>
      </p:sp>
      <p:sp>
        <p:nvSpPr>
          <p:cNvPr id="3" name="Content Placeholder 2">
            <a:extLst>
              <a:ext uri="{FF2B5EF4-FFF2-40B4-BE49-F238E27FC236}">
                <a16:creationId xmlns:a16="http://schemas.microsoft.com/office/drawing/2014/main" id="{9C887AD4-BA2D-53EF-7DFD-34429BF67328}"/>
              </a:ext>
            </a:extLst>
          </p:cNvPr>
          <p:cNvSpPr>
            <a:spLocks noGrp="1"/>
          </p:cNvSpPr>
          <p:nvPr>
            <p:ph idx="1"/>
          </p:nvPr>
        </p:nvSpPr>
        <p:spPr/>
        <p:txBody>
          <a:bodyPr vert="horz" lIns="91440" tIns="45720" rIns="91440" bIns="45720" rtlCol="0" anchor="t">
            <a:normAutofit/>
          </a:bodyPr>
          <a:lstStyle/>
          <a:p>
            <a:r>
              <a:rPr lang="en-US" sz="2400">
                <a:latin typeface="Times New Roman"/>
                <a:ea typeface="+mn-lt"/>
                <a:cs typeface="Times New Roman"/>
              </a:rPr>
              <a:t>Web-based and cloud-hosted system</a:t>
            </a:r>
            <a:endParaRPr lang="en-US" sz="2400">
              <a:latin typeface="Times New Roman"/>
              <a:cs typeface="Times New Roman"/>
            </a:endParaRPr>
          </a:p>
          <a:p>
            <a:r>
              <a:rPr lang="en-US" sz="2400">
                <a:latin typeface="Times New Roman"/>
                <a:ea typeface="+mn-lt"/>
                <a:cs typeface="Times New Roman"/>
              </a:rPr>
              <a:t>Online practice tests</a:t>
            </a:r>
            <a:endParaRPr lang="en-US" sz="2400">
              <a:latin typeface="Times New Roman"/>
              <a:cs typeface="Times New Roman"/>
            </a:endParaRPr>
          </a:p>
          <a:p>
            <a:r>
              <a:rPr lang="en-US" sz="2400">
                <a:latin typeface="Times New Roman"/>
                <a:ea typeface="+mn-lt"/>
                <a:cs typeface="Times New Roman"/>
              </a:rPr>
              <a:t>Schedule driving lessons</a:t>
            </a:r>
            <a:endParaRPr lang="en-US" sz="2400">
              <a:latin typeface="Times New Roman"/>
              <a:cs typeface="Times New Roman"/>
            </a:endParaRPr>
          </a:p>
          <a:p>
            <a:r>
              <a:rPr lang="en-US" sz="2400">
                <a:latin typeface="Times New Roman"/>
                <a:ea typeface="+mn-lt"/>
                <a:cs typeface="Times New Roman"/>
              </a:rPr>
              <a:t>Manage appointments</a:t>
            </a:r>
            <a:endParaRPr lang="en-US" sz="2400">
              <a:latin typeface="Times New Roman"/>
              <a:cs typeface="Times New Roman"/>
            </a:endParaRPr>
          </a:p>
          <a:p>
            <a:r>
              <a:rPr lang="en-US" sz="2400">
                <a:latin typeface="Times New Roman"/>
                <a:ea typeface="+mn-lt"/>
                <a:cs typeface="Times New Roman"/>
              </a:rPr>
              <a:t>Secure login and role-based access</a:t>
            </a:r>
            <a:endParaRPr lang="en-US" sz="2400">
              <a:latin typeface="Times New Roman"/>
              <a:cs typeface="Times New Roman"/>
            </a:endParaRPr>
          </a:p>
          <a:p>
            <a:r>
              <a:rPr lang="en-US" sz="2400">
                <a:latin typeface="Times New Roman"/>
                <a:ea typeface="+mn-lt"/>
                <a:cs typeface="Times New Roman"/>
              </a:rPr>
              <a:t> Access from computers, tablets, and mobile devices</a:t>
            </a:r>
            <a:endParaRPr lang="en-US" sz="2400">
              <a:latin typeface="Times New Roman"/>
              <a:cs typeface="Times New Roman"/>
            </a:endParaRPr>
          </a:p>
          <a:p>
            <a:endParaRPr lang="en-US" dirty="0"/>
          </a:p>
        </p:txBody>
      </p:sp>
    </p:spTree>
    <p:extLst>
      <p:ext uri="{BB962C8B-B14F-4D97-AF65-F5344CB8AC3E}">
        <p14:creationId xmlns:p14="http://schemas.microsoft.com/office/powerpoint/2010/main" val="321660138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3C69-EACA-F5D9-1189-71EB642D0291}"/>
              </a:ext>
            </a:extLst>
          </p:cNvPr>
          <p:cNvSpPr>
            <a:spLocks noGrp="1"/>
          </p:cNvSpPr>
          <p:nvPr>
            <p:ph type="title"/>
          </p:nvPr>
        </p:nvSpPr>
        <p:spPr/>
        <p:txBody>
          <a:bodyPr/>
          <a:lstStyle/>
          <a:p>
            <a:r>
              <a:rPr lang="en-US">
                <a:ea typeface="+mj-lt"/>
                <a:cs typeface="+mj-lt"/>
              </a:rPr>
              <a:t>Use Case Diagram</a:t>
            </a:r>
            <a:endParaRPr lang="en-US"/>
          </a:p>
        </p:txBody>
      </p:sp>
      <p:pic>
        <p:nvPicPr>
          <p:cNvPr id="4" name="Content Placeholder 3" descr="A diagram of a driverless pass&#10;&#10;AI-generated content may be incorrect.">
            <a:extLst>
              <a:ext uri="{FF2B5EF4-FFF2-40B4-BE49-F238E27FC236}">
                <a16:creationId xmlns:a16="http://schemas.microsoft.com/office/drawing/2014/main" id="{14C2577C-11E0-AD49-207B-5D914D7C244F}"/>
              </a:ext>
            </a:extLst>
          </p:cNvPr>
          <p:cNvPicPr>
            <a:picLocks noGrp="1" noChangeAspect="1"/>
          </p:cNvPicPr>
          <p:nvPr>
            <p:ph idx="1"/>
          </p:nvPr>
        </p:nvPicPr>
        <p:blipFill>
          <a:blip r:embed="rId3"/>
          <a:stretch>
            <a:fillRect/>
          </a:stretch>
        </p:blipFill>
        <p:spPr>
          <a:xfrm>
            <a:off x="1189962" y="1429110"/>
            <a:ext cx="8536504" cy="4295206"/>
          </a:xfrm>
          <a:prstGeom prst="rect">
            <a:avLst/>
          </a:prstGeom>
        </p:spPr>
      </p:pic>
      <p:sp>
        <p:nvSpPr>
          <p:cNvPr id="5" name="TextBox 4">
            <a:extLst>
              <a:ext uri="{FF2B5EF4-FFF2-40B4-BE49-F238E27FC236}">
                <a16:creationId xmlns:a16="http://schemas.microsoft.com/office/drawing/2014/main" id="{F72E800B-46FD-EBBA-DC79-692ABFC34C21}"/>
              </a:ext>
            </a:extLst>
          </p:cNvPr>
          <p:cNvSpPr txBox="1"/>
          <p:nvPr/>
        </p:nvSpPr>
        <p:spPr>
          <a:xfrm>
            <a:off x="1087794" y="5725501"/>
            <a:ext cx="957244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Shows the main users of the DriverPass system</a:t>
            </a:r>
            <a:endParaRPr lang="en-US"/>
          </a:p>
          <a:p>
            <a:endParaRPr lang="en-US"/>
          </a:p>
          <a:p>
            <a:r>
              <a:rPr lang="en-US">
                <a:ea typeface="+mn-lt"/>
                <a:cs typeface="+mn-lt"/>
              </a:rPr>
              <a:t>• Demonstrates how users interact with system functions</a:t>
            </a:r>
            <a:endParaRPr lang="en-US"/>
          </a:p>
        </p:txBody>
      </p:sp>
    </p:spTree>
    <p:extLst>
      <p:ext uri="{BB962C8B-B14F-4D97-AF65-F5344CB8AC3E}">
        <p14:creationId xmlns:p14="http://schemas.microsoft.com/office/powerpoint/2010/main" val="374112509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F6D8-7C88-63EA-7246-681FD46A7603}"/>
              </a:ext>
            </a:extLst>
          </p:cNvPr>
          <p:cNvSpPr>
            <a:spLocks noGrp="1"/>
          </p:cNvSpPr>
          <p:nvPr>
            <p:ph type="title"/>
          </p:nvPr>
        </p:nvSpPr>
        <p:spPr>
          <a:xfrm>
            <a:off x="1888435" y="279054"/>
            <a:ext cx="9616177" cy="691419"/>
          </a:xfrm>
        </p:spPr>
        <p:txBody>
          <a:bodyPr>
            <a:normAutofit/>
          </a:bodyPr>
          <a:lstStyle/>
          <a:p>
            <a:r>
              <a:rPr lang="en-US">
                <a:ea typeface="+mj-lt"/>
                <a:cs typeface="+mj-lt"/>
              </a:rPr>
              <a:t>Activity Diagram</a:t>
            </a:r>
            <a:endParaRPr lang="en-US"/>
          </a:p>
        </p:txBody>
      </p:sp>
      <p:pic>
        <p:nvPicPr>
          <p:cNvPr id="4" name="Content Placeholder 3" descr="A diagram of a process&#10;&#10;AI-generated content may be incorrect.">
            <a:extLst>
              <a:ext uri="{FF2B5EF4-FFF2-40B4-BE49-F238E27FC236}">
                <a16:creationId xmlns:a16="http://schemas.microsoft.com/office/drawing/2014/main" id="{01473996-D1B7-365A-6147-7F42596C10C9}"/>
              </a:ext>
            </a:extLst>
          </p:cNvPr>
          <p:cNvPicPr>
            <a:picLocks noGrp="1" noChangeAspect="1"/>
          </p:cNvPicPr>
          <p:nvPr>
            <p:ph idx="1"/>
          </p:nvPr>
        </p:nvPicPr>
        <p:blipFill>
          <a:blip r:embed="rId3"/>
          <a:stretch>
            <a:fillRect/>
          </a:stretch>
        </p:blipFill>
        <p:spPr>
          <a:xfrm>
            <a:off x="1890247" y="969034"/>
            <a:ext cx="6762122" cy="4525244"/>
          </a:xfrm>
          <a:prstGeom prst="rect">
            <a:avLst/>
          </a:prstGeom>
        </p:spPr>
      </p:pic>
      <p:sp>
        <p:nvSpPr>
          <p:cNvPr id="5" name="TextBox 4">
            <a:extLst>
              <a:ext uri="{FF2B5EF4-FFF2-40B4-BE49-F238E27FC236}">
                <a16:creationId xmlns:a16="http://schemas.microsoft.com/office/drawing/2014/main" id="{1C75E7E4-A0D8-4D94-794D-470F60669C73}"/>
              </a:ext>
            </a:extLst>
          </p:cNvPr>
          <p:cNvSpPr txBox="1"/>
          <p:nvPr/>
        </p:nvSpPr>
        <p:spPr>
          <a:xfrm>
            <a:off x="1876306" y="5660790"/>
            <a:ext cx="935678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Shows the steps for scheduling a driving lesson </a:t>
            </a:r>
            <a:endParaRPr lang="en-US"/>
          </a:p>
          <a:p>
            <a:pPr marL="285750" indent="-285750">
              <a:buFont typeface="Arial"/>
              <a:buChar char="•"/>
            </a:pPr>
            <a:r>
              <a:rPr lang="en-US">
                <a:ea typeface="+mn-lt"/>
                <a:cs typeface="+mn-lt"/>
              </a:rPr>
              <a:t>Demonstrates how the system checks availability and confirms appointments</a:t>
            </a:r>
            <a:endParaRPr lang="en-US"/>
          </a:p>
          <a:p>
            <a:pPr algn="l"/>
            <a:endParaRPr lang="en-US" dirty="0"/>
          </a:p>
        </p:txBody>
      </p:sp>
      <p:sp>
        <p:nvSpPr>
          <p:cNvPr id="7" name="TextBox 6">
            <a:extLst>
              <a:ext uri="{FF2B5EF4-FFF2-40B4-BE49-F238E27FC236}">
                <a16:creationId xmlns:a16="http://schemas.microsoft.com/office/drawing/2014/main" id="{109DAF1D-D360-DDA4-7443-727E1CC6DFF3}"/>
              </a:ext>
            </a:extLst>
          </p:cNvPr>
          <p:cNvSpPr txBox="1"/>
          <p:nvPr/>
        </p:nvSpPr>
        <p:spPr>
          <a:xfrm>
            <a:off x="2631711" y="979446"/>
            <a:ext cx="52879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Schedule Driving Lesson Activity Diagram</a:t>
            </a:r>
            <a:endParaRPr lang="en-US"/>
          </a:p>
        </p:txBody>
      </p:sp>
    </p:spTree>
    <p:extLst>
      <p:ext uri="{BB962C8B-B14F-4D97-AF65-F5344CB8AC3E}">
        <p14:creationId xmlns:p14="http://schemas.microsoft.com/office/powerpoint/2010/main" val="264541944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E297-9D74-DC64-0EA5-EC4238FAD11F}"/>
              </a:ext>
            </a:extLst>
          </p:cNvPr>
          <p:cNvSpPr>
            <a:spLocks noGrp="1"/>
          </p:cNvSpPr>
          <p:nvPr>
            <p:ph type="title"/>
          </p:nvPr>
        </p:nvSpPr>
        <p:spPr/>
        <p:txBody>
          <a:bodyPr/>
          <a:lstStyle/>
          <a:p>
            <a:r>
              <a:rPr lang="en-US">
                <a:ea typeface="+mj-lt"/>
                <a:cs typeface="+mj-lt"/>
              </a:rPr>
              <a:t>Security</a:t>
            </a:r>
            <a:endParaRPr lang="en-US"/>
          </a:p>
        </p:txBody>
      </p:sp>
      <p:sp>
        <p:nvSpPr>
          <p:cNvPr id="3" name="Content Placeholder 2">
            <a:extLst>
              <a:ext uri="{FF2B5EF4-FFF2-40B4-BE49-F238E27FC236}">
                <a16:creationId xmlns:a16="http://schemas.microsoft.com/office/drawing/2014/main" id="{7125A07A-D94A-50B7-D5A5-23C42857A201}"/>
              </a:ext>
            </a:extLst>
          </p:cNvPr>
          <p:cNvSpPr>
            <a:spLocks noGrp="1"/>
          </p:cNvSpPr>
          <p:nvPr>
            <p:ph idx="1"/>
          </p:nvPr>
        </p:nvSpPr>
        <p:spPr/>
        <p:txBody>
          <a:bodyPr vert="horz" lIns="91440" tIns="45720" rIns="91440" bIns="45720" rtlCol="0" anchor="t">
            <a:normAutofit/>
          </a:bodyPr>
          <a:lstStyle/>
          <a:p>
            <a:r>
              <a:rPr lang="en-US">
                <a:ea typeface="+mn-lt"/>
                <a:cs typeface="+mn-lt"/>
              </a:rPr>
              <a:t> Secure username and password login</a:t>
            </a:r>
            <a:endParaRPr lang="en-US"/>
          </a:p>
          <a:p>
            <a:endParaRPr lang="en-US"/>
          </a:p>
          <a:p>
            <a:r>
              <a:rPr lang="en-US">
                <a:ea typeface="+mn-lt"/>
                <a:cs typeface="+mn-lt"/>
              </a:rPr>
              <a:t> Role-based access for different users</a:t>
            </a:r>
            <a:endParaRPr lang="en-US"/>
          </a:p>
          <a:p>
            <a:endParaRPr lang="en-US"/>
          </a:p>
          <a:p>
            <a:r>
              <a:rPr lang="en-US">
                <a:ea typeface="+mn-lt"/>
                <a:cs typeface="+mn-lt"/>
              </a:rPr>
              <a:t> Encrypted customer information</a:t>
            </a:r>
            <a:endParaRPr lang="en-US"/>
          </a:p>
          <a:p>
            <a:endParaRPr lang="en-US"/>
          </a:p>
          <a:p>
            <a:r>
              <a:rPr lang="en-US">
                <a:ea typeface="+mn-lt"/>
                <a:cs typeface="+mn-lt"/>
              </a:rPr>
              <a:t> Password reset functionality</a:t>
            </a:r>
            <a:endParaRPr lang="en-US"/>
          </a:p>
          <a:p>
            <a:endParaRPr lang="en-US"/>
          </a:p>
          <a:p>
            <a:r>
              <a:rPr lang="en-US">
                <a:ea typeface="+mn-lt"/>
                <a:cs typeface="+mn-lt"/>
              </a:rPr>
              <a:t> Account monitoring and protection</a:t>
            </a:r>
            <a:endParaRPr lang="en-US"/>
          </a:p>
        </p:txBody>
      </p:sp>
    </p:spTree>
    <p:extLst>
      <p:ext uri="{BB962C8B-B14F-4D97-AF65-F5344CB8AC3E}">
        <p14:creationId xmlns:p14="http://schemas.microsoft.com/office/powerpoint/2010/main" val="14872428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3FFEE-EEBC-A50B-D723-D89A38DAE00E}"/>
              </a:ext>
            </a:extLst>
          </p:cNvPr>
          <p:cNvSpPr>
            <a:spLocks noGrp="1"/>
          </p:cNvSpPr>
          <p:nvPr>
            <p:ph type="title"/>
          </p:nvPr>
        </p:nvSpPr>
        <p:spPr/>
        <p:txBody>
          <a:bodyPr/>
          <a:lstStyle/>
          <a:p>
            <a:r>
              <a:rPr lang="en-US">
                <a:ea typeface="+mj-lt"/>
                <a:cs typeface="+mj-lt"/>
              </a:rPr>
              <a:t>System Limitations</a:t>
            </a:r>
            <a:endParaRPr lang="en-US"/>
          </a:p>
        </p:txBody>
      </p:sp>
      <p:sp>
        <p:nvSpPr>
          <p:cNvPr id="3" name="Content Placeholder 2">
            <a:extLst>
              <a:ext uri="{FF2B5EF4-FFF2-40B4-BE49-F238E27FC236}">
                <a16:creationId xmlns:a16="http://schemas.microsoft.com/office/drawing/2014/main" id="{79C6C1B2-B145-D836-3D2A-E78A2B7AF96B}"/>
              </a:ext>
            </a:extLst>
          </p:cNvPr>
          <p:cNvSpPr>
            <a:spLocks noGrp="1"/>
          </p:cNvSpPr>
          <p:nvPr>
            <p:ph idx="1"/>
          </p:nvPr>
        </p:nvSpPr>
        <p:spPr/>
        <p:txBody>
          <a:bodyPr vert="horz" lIns="91440" tIns="45720" rIns="91440" bIns="45720" rtlCol="0" anchor="t">
            <a:normAutofit/>
          </a:bodyPr>
          <a:lstStyle/>
          <a:p>
            <a:r>
              <a:rPr lang="en-US">
                <a:ea typeface="+mn-lt"/>
                <a:cs typeface="+mn-lt"/>
              </a:rPr>
              <a:t>Requires a stable internet connection</a:t>
            </a:r>
            <a:endParaRPr lang="en-US"/>
          </a:p>
          <a:p>
            <a:endParaRPr lang="en-US"/>
          </a:p>
          <a:p>
            <a:r>
              <a:rPr lang="en-US">
                <a:ea typeface="+mn-lt"/>
                <a:cs typeface="+mn-lt"/>
              </a:rPr>
              <a:t>Depends on DMV updates</a:t>
            </a:r>
            <a:endParaRPr lang="en-US"/>
          </a:p>
          <a:p>
            <a:endParaRPr lang="en-US"/>
          </a:p>
          <a:p>
            <a:r>
              <a:rPr lang="en-US">
                <a:ea typeface="+mn-lt"/>
                <a:cs typeface="+mn-lt"/>
              </a:rPr>
              <a:t> Performance may vary with network speed</a:t>
            </a:r>
            <a:endParaRPr lang="en-US"/>
          </a:p>
          <a:p>
            <a:endParaRPr lang="en-US"/>
          </a:p>
          <a:p>
            <a:r>
              <a:rPr lang="en-US">
                <a:ea typeface="+mn-lt"/>
                <a:cs typeface="+mn-lt"/>
              </a:rPr>
              <a:t> Future growth may require additional resources</a:t>
            </a:r>
            <a:endParaRPr lang="en-US"/>
          </a:p>
          <a:p>
            <a:endParaRPr lang="en-US"/>
          </a:p>
          <a:p>
            <a:r>
              <a:rPr lang="en-US">
                <a:ea typeface="+mn-lt"/>
                <a:cs typeface="+mn-lt"/>
              </a:rPr>
              <a:t> Requires secure cloud hosting</a:t>
            </a:r>
            <a:endParaRPr lang="en-US"/>
          </a:p>
        </p:txBody>
      </p:sp>
    </p:spTree>
    <p:extLst>
      <p:ext uri="{BB962C8B-B14F-4D97-AF65-F5344CB8AC3E}">
        <p14:creationId xmlns:p14="http://schemas.microsoft.com/office/powerpoint/2010/main" val="1076486053"/>
      </p:ext>
    </p:extLst>
  </p:cSld>
  <p:clrMapOvr>
    <a:masterClrMapping/>
  </p:clrMapOvr>
  <p:transition spd="slow">
    <p:cover/>
  </p:transition>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Wisp</vt:lpstr>
      <vt:lpstr>DriverPass System Design</vt:lpstr>
      <vt:lpstr>System Requirements</vt:lpstr>
      <vt:lpstr>Use Case Diagram</vt:lpstr>
      <vt:lpstr>Activity Diagram</vt:lpstr>
      <vt:lpstr>Security</vt:lpstr>
      <vt:lpstr>System Limitations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118</cp:revision>
  <dcterms:created xsi:type="dcterms:W3CDTF">2026-06-17T02:24:57Z</dcterms:created>
  <dcterms:modified xsi:type="dcterms:W3CDTF">2026-06-17T04:10:51Z</dcterms:modified>
</cp:coreProperties>
</file>